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8" r:id="rId2"/>
    <p:sldId id="298" r:id="rId3"/>
    <p:sldId id="299" r:id="rId4"/>
    <p:sldId id="343" r:id="rId5"/>
    <p:sldId id="307" r:id="rId6"/>
    <p:sldId id="301" r:id="rId7"/>
    <p:sldId id="306" r:id="rId8"/>
    <p:sldId id="309" r:id="rId9"/>
    <p:sldId id="308" r:id="rId10"/>
    <p:sldId id="310" r:id="rId11"/>
    <p:sldId id="323" r:id="rId12"/>
    <p:sldId id="316" r:id="rId13"/>
    <p:sldId id="317" r:id="rId14"/>
    <p:sldId id="324" r:id="rId15"/>
    <p:sldId id="314" r:id="rId16"/>
    <p:sldId id="338" r:id="rId17"/>
    <p:sldId id="318" r:id="rId18"/>
    <p:sldId id="335" r:id="rId19"/>
    <p:sldId id="337" r:id="rId20"/>
    <p:sldId id="329" r:id="rId21"/>
    <p:sldId id="330" r:id="rId22"/>
    <p:sldId id="331" r:id="rId23"/>
    <p:sldId id="320" r:id="rId24"/>
    <p:sldId id="327" r:id="rId25"/>
    <p:sldId id="328" r:id="rId26"/>
    <p:sldId id="333" r:id="rId27"/>
    <p:sldId id="334" r:id="rId28"/>
    <p:sldId id="326" r:id="rId29"/>
    <p:sldId id="342" r:id="rId30"/>
    <p:sldId id="339" r:id="rId31"/>
    <p:sldId id="34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868"/>
    <a:srgbClr val="46ADE8"/>
    <a:srgbClr val="083E9E"/>
    <a:srgbClr val="145492"/>
    <a:srgbClr val="55B8B5"/>
    <a:srgbClr val="E9E9E9"/>
    <a:srgbClr val="E9A72F"/>
    <a:srgbClr val="E8A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C8308-2C2B-47DC-ACD6-C2AEE058B88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BE5B6-2609-4C15-AE54-E2208F89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6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4F42E-71FA-4EDC-A7B2-B63E99975A98}" type="datetime1">
              <a:rPr lang="en-GB" smtClean="0"/>
              <a:t>05/04/2026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59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DE1FDFE0-292B-48F9-9650-AED069344DF6}" type="datetime1">
              <a:rPr lang="en-GB" smtClean="0"/>
              <a:t>05/04/2026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7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B57926EC-77F1-466E-93C3-28D287E76486}" type="datetime1">
              <a:rPr lang="en-GB" smtClean="0"/>
              <a:t>05/04/2026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91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1B9A8876-6F88-412F-84A1-1F13DF5F5C43}" type="datetime1">
              <a:rPr lang="en-GB" smtClean="0"/>
              <a:t>05/04/2026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6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5F7A88CB-9483-4322-803D-CFC828AA7A0F}" type="datetime1">
              <a:rPr lang="en-GB" smtClean="0"/>
              <a:t>05/04/2026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2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C8CBBAA7-7BE5-4670-8020-468BED52ADE1}" type="datetime1">
              <a:rPr lang="en-GB" smtClean="0"/>
              <a:t>05/04/2026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6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2A55A757-153A-4BD3-91BE-CBC86BCD5A9D}" type="datetime1">
              <a:rPr lang="en-GB" smtClean="0"/>
              <a:t>05/04/2026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0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6BBF8C85-1755-4231-9D31-26C278DEEF3D}" type="datetime1">
              <a:rPr lang="en-GB" smtClean="0"/>
              <a:t>05/04/2026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3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AC7840CB-738B-48B7-B01F-3125069D84B0}" type="datetime1">
              <a:rPr lang="en-GB" smtClean="0"/>
              <a:t>05/04/2026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AEF0B49D-2B37-400A-969E-50E70A6084A8}" type="datetime1">
              <a:rPr lang="en-GB" smtClean="0"/>
              <a:t>05/04/2026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8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/>
          <a:lstStyle/>
          <a:p>
            <a:fld id="{22D350F1-770F-40AE-8BD9-53725B6B1394}" type="datetime1">
              <a:rPr lang="en-GB" smtClean="0"/>
              <a:t>05/04/2026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3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5D79100-1998-41C1-B9FB-05692E339030}" type="datetime1">
              <a:rPr lang="en-GB" smtClean="0"/>
              <a:t>05/04/2026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8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28.png"/><Relationship Id="rId7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FCC715A8-5FDE-D82C-F74E-467A858B4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808" y="0"/>
            <a:ext cx="7909104" cy="125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04739D97-141E-C3E9-D6F4-1BC2C8C906C2}"/>
              </a:ext>
            </a:extLst>
          </p:cNvPr>
          <p:cNvSpPr txBox="1"/>
          <p:nvPr/>
        </p:nvSpPr>
        <p:spPr>
          <a:xfrm>
            <a:off x="1603333" y="1860115"/>
            <a:ext cx="76901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Book Antiqua" panose="02040602050305030304" pitchFamily="18" charset="0"/>
              </a:rPr>
              <a:t>Hybrid Deep Reinforcement Learning and Model Predictive Control for Safe Autonomous Docking of Yachts in Confined Waters</a:t>
            </a:r>
            <a:endParaRPr lang="en-US" sz="2200" b="1" dirty="0">
              <a:solidFill>
                <a:srgbClr val="053868"/>
              </a:solidFill>
              <a:latin typeface="Book Antiqua" panose="02040602050305030304" pitchFamily="18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01879B2-2FCA-0A46-A77C-C9FEC20A2704}"/>
              </a:ext>
            </a:extLst>
          </p:cNvPr>
          <p:cNvSpPr txBox="1"/>
          <p:nvPr/>
        </p:nvSpPr>
        <p:spPr>
          <a:xfrm>
            <a:off x="3256767" y="3429001"/>
            <a:ext cx="4791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Presented By</a:t>
            </a:r>
            <a:r>
              <a:rPr lang="en-US" dirty="0">
                <a:latin typeface="Algerian" panose="04020705040A02060702" pitchFamily="82" charset="0"/>
              </a:rPr>
              <a:t>: LEMUEL HORNSBY-ODOI</a:t>
            </a:r>
          </a:p>
          <a:p>
            <a:endParaRPr lang="en-GB" sz="1400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B160BE06-EC01-1145-BF3B-C02AC24955C4}"/>
              </a:ext>
            </a:extLst>
          </p:cNvPr>
          <p:cNvSpPr txBox="1">
            <a:spLocks/>
          </p:cNvSpPr>
          <p:nvPr/>
        </p:nvSpPr>
        <p:spPr>
          <a:xfrm>
            <a:off x="644819" y="5405013"/>
            <a:ext cx="2328708" cy="242364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>
                <a:solidFill>
                  <a:srgbClr val="000000"/>
                </a:solidFill>
                <a:latin typeface="Elephant" panose="02020904090505020303" pitchFamily="18" charset="0"/>
              </a:rPr>
              <a:t>Date</a:t>
            </a:r>
            <a:r>
              <a:rPr lang="en-GB" sz="1400" dirty="0">
                <a:solidFill>
                  <a:srgbClr val="000000"/>
                </a:solidFill>
                <a:latin typeface="Elephant" panose="02020904090505020303" pitchFamily="18" charset="0"/>
              </a:rPr>
              <a:t>: </a:t>
            </a:r>
            <a:fld id="{84E8D500-77B0-4D94-A214-E28C82D4040E}" type="datetime3">
              <a:rPr lang="en-GB" sz="1400" smtClean="0">
                <a:solidFill>
                  <a:srgbClr val="000000"/>
                </a:solidFill>
                <a:latin typeface="Elephant" panose="02020904090505020303" pitchFamily="18" charset="0"/>
              </a:rPr>
              <a:pPr/>
              <a:t>5 April, 2026</a:t>
            </a:fld>
            <a:endParaRPr lang="en-GB" sz="1400" dirty="0">
              <a:solidFill>
                <a:srgbClr val="000000"/>
              </a:solidFill>
              <a:latin typeface="Elephant" panose="020209040905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6EF77-07FB-7D09-9E42-78FD023A584B}"/>
              </a:ext>
            </a:extLst>
          </p:cNvPr>
          <p:cNvSpPr txBox="1"/>
          <p:nvPr/>
        </p:nvSpPr>
        <p:spPr>
          <a:xfrm>
            <a:off x="3381983" y="4133588"/>
            <a:ext cx="4791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lgerian" panose="04020705040A02060702" pitchFamily="82" charset="0"/>
              </a:rPr>
              <a:t>Supervisors:   Professor Francisco Javier Bellas Bouza, Professor Marcos Miguez Gonzalez </a:t>
            </a:r>
            <a:endParaRPr lang="en-GB" sz="1400" b="1" dirty="0">
              <a:latin typeface="Algerian" panose="04020705040A02060702" pitchFamily="8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31240FC-ECFA-3F4E-F1D7-18E71F5D0E33}"/>
              </a:ext>
            </a:extLst>
          </p:cNvPr>
          <p:cNvSpPr/>
          <p:nvPr/>
        </p:nvSpPr>
        <p:spPr>
          <a:xfrm rot="2746885">
            <a:off x="14723951" y="1722438"/>
            <a:ext cx="6886" cy="6700"/>
          </a:xfrm>
          <a:custGeom>
            <a:avLst/>
            <a:gdLst>
              <a:gd name="connsiteX0" fmla="*/ 0 w 6886"/>
              <a:gd name="connsiteY0" fmla="*/ 0 h 6700"/>
              <a:gd name="connsiteX1" fmla="*/ 6886 w 6886"/>
              <a:gd name="connsiteY1" fmla="*/ 0 h 6700"/>
              <a:gd name="connsiteX2" fmla="*/ 6886 w 6886"/>
              <a:gd name="connsiteY2" fmla="*/ 6700 h 6700"/>
              <a:gd name="connsiteX3" fmla="*/ 0 w 6886"/>
              <a:gd name="connsiteY3" fmla="*/ 0 h 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6" h="6700">
                <a:moveTo>
                  <a:pt x="0" y="0"/>
                </a:moveTo>
                <a:lnTo>
                  <a:pt x="6886" y="0"/>
                </a:lnTo>
                <a:lnTo>
                  <a:pt x="6886" y="67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A3432C9-5645-81CC-8738-8C09D89565B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07204" y="5993913"/>
            <a:ext cx="7960988" cy="695737"/>
            <a:chOff x="116558" y="5899937"/>
            <a:chExt cx="9210324" cy="868122"/>
          </a:xfrm>
        </p:grpSpPr>
        <p:pic>
          <p:nvPicPr>
            <p:cNvPr id="10" name="Picture 6" descr="Moodle-Unina">
              <a:extLst>
                <a:ext uri="{FF2B5EF4-FFF2-40B4-BE49-F238E27FC236}">
                  <a16:creationId xmlns:a16="http://schemas.microsoft.com/office/drawing/2014/main" id="{A390EDC7-0C85-BCD0-A762-B00225FCB62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University of Zagreb, Croatia | Study.eu">
              <a:extLst>
                <a:ext uri="{FF2B5EF4-FFF2-40B4-BE49-F238E27FC236}">
                  <a16:creationId xmlns:a16="http://schemas.microsoft.com/office/drawing/2014/main" id="{E9381962-8AD0-37B5-7C8F-37BD61F2655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0" descr="TUHH – HAMBURG UNIVERSITY OF TECHNOLOGY ...">
              <a:extLst>
                <a:ext uri="{FF2B5EF4-FFF2-40B4-BE49-F238E27FC236}">
                  <a16:creationId xmlns:a16="http://schemas.microsoft.com/office/drawing/2014/main" id="{645616BE-02CF-18ED-68E7-EC599C4AB356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UDC Logo, symbol, meaning, history, PNG, brand">
              <a:extLst>
                <a:ext uri="{FF2B5EF4-FFF2-40B4-BE49-F238E27FC236}">
                  <a16:creationId xmlns:a16="http://schemas.microsoft.com/office/drawing/2014/main" id="{B3BFCE35-7E81-07D6-A69A-2EB827422823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0021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490EC-A352-36C5-E861-E135DF8F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445A360-8CFD-9DEF-2D22-489FF4055A2B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05C972-C0D2-73CC-0B54-F045C3DDCD98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DC056A-122F-4226-746C-38B5996F272D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48F61040-C070-1280-36FD-6F1837AE194F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D3B681-B1FD-FC89-C4F6-3FBFB2995B6F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680240-3883-CDC6-7A10-1FBF63F7B41F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0AA52-8BEC-0892-94BB-DE5F1F53D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0743" y="1256449"/>
            <a:ext cx="5308859" cy="376732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Model and Performance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90B82-90B9-0F0E-D41A-6B48B821F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68" y="1256449"/>
            <a:ext cx="5592635" cy="376732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5A8D7A87-606D-E8E2-AF3F-69AE4B85BA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7744" y="6419088"/>
            <a:ext cx="3026664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757873F-A18F-30C2-2CB0-1165E788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15492D4-DE3B-81DD-D117-6DC1B46722A4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A4BA38A8-1A9A-D5EA-B149-D455A2178AEB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7730D599-6053-6DC4-B5CF-AF6575624316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DE82F560-8783-A924-14E2-0D223373E2D2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EE874E1F-2348-5D5B-F0CA-29B2573AD167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639664A0-0534-8254-E082-A57282DBA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02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29C9-7A78-E43C-3777-612A48C1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B44C796-A994-5DCD-4246-37F565A6C40D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57FD65-08DE-7386-7D2B-5D86BBFD956C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7B1C85-3263-C5EB-0C41-DADA214A08DE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6883E934-C018-7691-9212-02E0BC13F6CA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7E42660-248A-4D78-D9BE-A30F1CC1DADC}"/>
              </a:ext>
            </a:extLst>
          </p:cNvPr>
          <p:cNvSpPr txBox="1"/>
          <p:nvPr/>
        </p:nvSpPr>
        <p:spPr>
          <a:xfrm>
            <a:off x="0" y="98881"/>
            <a:ext cx="8870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8A3F0-84A9-9662-F04E-98CAF68C8DD9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56FE8F4-2406-C850-4F46-B0B5E030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5677" y="6216265"/>
            <a:ext cx="236090" cy="316652"/>
          </a:xfrm>
        </p:spPr>
        <p:txBody>
          <a:bodyPr/>
          <a:lstStyle/>
          <a:p>
            <a:fld id="{148CC95F-0247-41B6-91CF-DC97C76A7088}" type="slidenum">
              <a:rPr lang="en-US" sz="1200" b="1" smtClean="0"/>
              <a:t>3</a:t>
            </a:fld>
            <a:endParaRPr lang="en-US" sz="1200" b="1" dirty="0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095D3BD6-7BA3-1636-897C-AC4AB188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63" y="6176375"/>
            <a:ext cx="98884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76FDE-32AE-7393-610E-79ECEF8222A4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9815CD2D-BA71-F25D-EACE-94321E0DAB43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F9CFF7AF-D0F0-D429-C25B-32A30D3867E8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94453907-7A82-3860-DF29-A9D81D3C55FC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306A75B9-02F9-3844-E580-A2FEEB94BF39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F6030927-2A2A-A50C-F78C-7D5B4DCF4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5CBECB-ECEF-91AD-2F88-EA69F60DD3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4" y="1055548"/>
            <a:ext cx="5249106" cy="42712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C5406D-1E2A-BE9E-165A-1019D4DA13BC}"/>
              </a:ext>
            </a:extLst>
          </p:cNvPr>
          <p:cNvSpPr txBox="1"/>
          <p:nvPr/>
        </p:nvSpPr>
        <p:spPr>
          <a:xfrm>
            <a:off x="6321020" y="1098507"/>
            <a:ext cx="56907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Maritime systems are rapidly evolving toward automation and autonomous vessel operations.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Docking remains one of the few maneuvers still performed manually, despite being complex in confined waters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Confined marinas require precise, disturbance-robust control.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control systems are essential for safe autonomous docking.</a:t>
            </a:r>
          </a:p>
        </p:txBody>
      </p:sp>
    </p:spTree>
    <p:extLst>
      <p:ext uri="{BB962C8B-B14F-4D97-AF65-F5344CB8AC3E}">
        <p14:creationId xmlns:p14="http://schemas.microsoft.com/office/powerpoint/2010/main" val="304570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8694-81B2-C84D-C63C-6D1A1552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E1E554-0138-552E-4D06-22D7D92EA2C8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7B73A1-AEB8-BAAA-EC69-4DD6FAFF539B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32F9F9-47CD-AEB9-3457-C5E7FCDFA311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774B1C8C-4F5F-9A27-4EE3-6A07E3E7F4ED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E425EAA-B62D-A196-DD68-FFB29D5511D5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176542-8841-D4AE-4356-4DD904BD84A8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C9666BC-C972-93E0-0013-714324FC78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13" y="1059660"/>
            <a:ext cx="6330108" cy="436537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F5593B-AD25-C4F0-E70C-D2821381D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682" y="2430217"/>
            <a:ext cx="4833843" cy="2660662"/>
          </a:xfrm>
        </p:spPr>
        <p:txBody>
          <a:bodyPr>
            <a:normAutofit/>
          </a:bodyPr>
          <a:lstStyle/>
          <a:p>
            <a:pPr algn="ctr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a control system based on AI that could help to automate docking maneuvers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6CE31974-BE18-FC34-0971-ACAAF95C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E2198D2-4EE2-994A-C550-FB6CD8DB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4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035176-67A8-91E8-09A5-8FC88298F2A9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57B9015F-0569-B46C-518A-1DBA9AD636EC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D05A85CE-5CCA-C510-0EBC-ACD7C447EA41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E5113249-A779-A4B0-63B6-33472330458D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17794FA7-D141-F225-01AB-8681A238AC8E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D884527F-DDA0-7735-21B9-1311DBC4F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31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E9C11-7F26-49D0-2E3B-3D7C2C36A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3077738-F645-F2C7-490C-9DD60D7FECB7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275BAB-C23F-BECE-DD1C-286850CAC070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FFAEE8-5825-A2FB-A7A1-69226E99AD8C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803A14A2-CF04-A6A3-7887-5407B83AB5CA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62377BC-7FAC-A85C-9C75-92D314C1005E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Secondary 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CE0F51-D772-F4B1-54F7-84006FE13FDE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24861A5-D36E-DDFC-6E64-EF290207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5677" y="6216265"/>
            <a:ext cx="236090" cy="316652"/>
          </a:xfrm>
        </p:spPr>
        <p:txBody>
          <a:bodyPr/>
          <a:lstStyle/>
          <a:p>
            <a:fld id="{148CC95F-0247-41B6-91CF-DC97C76A7088}" type="slidenum">
              <a:rPr lang="en-US" sz="1200" b="1" smtClean="0"/>
              <a:t>5</a:t>
            </a:fld>
            <a:endParaRPr lang="en-US" sz="1200" b="1" dirty="0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1E6A8C99-B693-BB6C-CBE7-3E6C1E54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63" y="6176375"/>
            <a:ext cx="98884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E8D3C13-301D-750C-3D23-E5289B52BB68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2B9B858E-1FE3-FDD8-1E4E-63407F21E580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B6F11194-C8C2-4678-DE0C-EBA286B7F40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16649CC5-6DC2-035E-2A97-94842DA2BDB4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E8CF7866-9D2C-1831-007D-1AE004347B86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D3744632-AEC9-4901-A5AF-2012A2771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8CE544-1960-A8EB-3AB0-1915A461B467}"/>
              </a:ext>
            </a:extLst>
          </p:cNvPr>
          <p:cNvSpPr txBox="1"/>
          <p:nvPr/>
        </p:nvSpPr>
        <p:spPr>
          <a:xfrm>
            <a:off x="1822662" y="1022837"/>
            <a:ext cx="91992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physics-based MMG maneuvering model of a yacht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Unity-Based Co-Simulation Environment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a communication layer between Unity and Python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Nonlinear Model Predictive Controller (NMPC)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Deep Reinforcement Learning (PPO) docking agent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 Hybrid NMPC–DRL Control Architecture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docking performance in a simulated marina environment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9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C396C-8CA5-B3D0-54BF-C6E089F9F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B59113E-6ED1-3A43-2C2B-AF26A277CAD1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024F04-5806-3BD5-A2AC-AB4AE19D77E3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210F59D-9A59-89DF-905C-C77387120FD4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4B9E10A5-4315-7D3F-C8F6-C550660EA575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7C31B19-7DDA-23EB-1624-261106AFCB37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77948-A015-04D3-C3FD-C9A7ADF14938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1281C8C-5439-50C8-81C8-79E3AEBFE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20" y="1108544"/>
            <a:ext cx="5929313" cy="4231279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AF1FA5B-0F48-14DE-4777-010742B39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1112" y="1108544"/>
            <a:ext cx="5166360" cy="4231279"/>
          </a:xfrm>
        </p:spPr>
        <p:txBody>
          <a:bodyPr>
            <a:normAutofit fontScale="92500"/>
          </a:bodyPr>
          <a:lstStyle/>
          <a:p>
            <a:r>
              <a:rPr lang="en-US" sz="18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Docking in confined marinas requires precise low-speed maneuvering under nonlinear vessel dynamics.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disturbances (wind, current) and tight spatial constraints increase operational difficulty.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autopilot systems are designed for open-water navigation rather than harbor maneuvers.</a:t>
            </a:r>
          </a:p>
          <a:p>
            <a:r>
              <a:rPr lang="en-US" sz="18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control framework capable of performing safe, precise autonomous docking of yachts in confined marina environments.</a:t>
            </a: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CB36604E-350B-64E8-A903-ACFB25F9B2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3736" y="6419088"/>
            <a:ext cx="3090672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6C65B58-F2C8-48D0-0D0D-C61DF616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6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C9B254-3656-754E-AD57-0A4A32267057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EF77ABF4-2DD8-0ACC-EA28-3E9473CFF27D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E9E679FE-FB73-E8EF-5D6A-D1B248A7DF2F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2EB12AF3-2ABB-D666-2F81-ECF0A4D0D10C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B3AA2223-9899-9D20-E9BE-BB5EE07DD911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A1AE0A53-F30C-0C94-AE4E-089C7FE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82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5E0E-5F54-2DE3-CE8F-A4514F8A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6436FEE-4AB7-8F2B-8D9F-91F15CB41036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1E88E4A-9665-323F-080F-7BB1689759B2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CD6CD5-8C28-A89E-1324-6E3A61072DC2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C1902E3B-728B-B609-DB3E-81A9A49E4398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8CB8A4F-08C3-9B65-586A-0A19F4A424A6}"/>
              </a:ext>
            </a:extLst>
          </p:cNvPr>
          <p:cNvSpPr txBox="1"/>
          <p:nvPr/>
        </p:nvSpPr>
        <p:spPr>
          <a:xfrm>
            <a:off x="277369" y="98881"/>
            <a:ext cx="8870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Reference yacht 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83E73B-6FE2-E4E3-B0A4-2B8894986831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06A6382-F69D-0DAD-B6B6-4AC66705D2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2" t="32387" r="23842" b="18060"/>
          <a:stretch>
            <a:fillRect/>
          </a:stretch>
        </p:blipFill>
        <p:spPr>
          <a:xfrm>
            <a:off x="277369" y="1033577"/>
            <a:ext cx="6189414" cy="4136499"/>
          </a:xfrm>
          <a:prstGeom prst="rect">
            <a:avLst/>
          </a:prstGeom>
        </p:spPr>
      </p:pic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743DC5B2-B9D1-7F7F-4D7E-3DF32ECE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369" y="6419088"/>
            <a:ext cx="2987039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40381008-BFC0-592E-912F-62CB8903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7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23A6CD-5EFC-9EAB-72C3-F85443722CBC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36EEBBBF-142A-1EDE-E2EC-52BD675C2D5F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3C67EAB3-63F0-DB23-7D05-B7A8872BBF2A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E4A0129C-CEFB-D17E-B110-F6C9F9D2793C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9766F67D-7D9F-71C0-3E0D-A026694AC2E9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6E1D122E-BED6-2EB4-C1FA-ED121EA4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746C08-231D-47B7-1D3F-EC8532D72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338471"/>
              </p:ext>
            </p:extLst>
          </p:nvPr>
        </p:nvGraphicFramePr>
        <p:xfrm>
          <a:off x="6856137" y="843987"/>
          <a:ext cx="4975831" cy="39228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85479">
                  <a:extLst>
                    <a:ext uri="{9D8B030D-6E8A-4147-A177-3AD203B41FA5}">
                      <a16:colId xmlns:a16="http://schemas.microsoft.com/office/drawing/2014/main" val="1910209245"/>
                    </a:ext>
                  </a:extLst>
                </a:gridCol>
                <a:gridCol w="1745176">
                  <a:extLst>
                    <a:ext uri="{9D8B030D-6E8A-4147-A177-3AD203B41FA5}">
                      <a16:colId xmlns:a16="http://schemas.microsoft.com/office/drawing/2014/main" val="3774804458"/>
                    </a:ext>
                  </a:extLst>
                </a:gridCol>
                <a:gridCol w="1745176">
                  <a:extLst>
                    <a:ext uri="{9D8B030D-6E8A-4147-A177-3AD203B41FA5}">
                      <a16:colId xmlns:a16="http://schemas.microsoft.com/office/drawing/2014/main" val="3857683187"/>
                    </a:ext>
                  </a:extLst>
                </a:gridCol>
              </a:tblGrid>
              <a:tr h="43631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947204"/>
                  </a:ext>
                </a:extLst>
              </a:tr>
              <a:tr h="43631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0227"/>
                  </a:ext>
                </a:extLst>
              </a:tr>
              <a:tr h="43631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633576"/>
                  </a:ext>
                </a:extLst>
              </a:tr>
              <a:tr h="63311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521745"/>
                  </a:ext>
                </a:extLst>
              </a:tr>
              <a:tr h="43631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328936"/>
                  </a:ext>
                </a:extLst>
              </a:tr>
              <a:tr h="90444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LCG relative to midship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154774"/>
                  </a:ext>
                </a:extLst>
              </a:tr>
              <a:tr h="43631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17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49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BF19-6C66-4C2B-9FB8-B9AE78FA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D1977E3-4F70-E591-FFCE-6AE569CE97FA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AD59CD0-7425-771A-7C17-2201FD01F5C7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D78C4F-F197-67B7-7CA3-24A1AAB31973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C1980068-C7F2-805D-B236-27CDD4C97D05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857654-C5FF-3DBF-4A83-84FCB726C462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E168C-5033-97DB-2932-713FDE83AD04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DD1E0F6-B125-0E9C-E636-4388F868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5677" y="6216265"/>
            <a:ext cx="236090" cy="316652"/>
          </a:xfrm>
        </p:spPr>
        <p:txBody>
          <a:bodyPr/>
          <a:lstStyle/>
          <a:p>
            <a:fld id="{148CC95F-0247-41B6-91CF-DC97C76A7088}" type="slidenum">
              <a:rPr lang="en-US" sz="1200" b="1" smtClean="0"/>
              <a:t>8</a:t>
            </a:fld>
            <a:endParaRPr lang="en-US" sz="1200" b="1" dirty="0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219EAABE-ECCC-B643-10C1-372684CD7B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63" y="6176375"/>
            <a:ext cx="98884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363B0A-D3E5-0432-085A-6B6DBDA27666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65E8D192-3912-529B-64E9-0CB8F4CE776E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8D89C770-9647-A89E-9D42-67E013C90193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73D055C8-050A-CAD5-0E42-71FA2D208BD5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CD741409-1ABB-0C30-4DC7-F27C50277C2D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ADB55AA3-BB71-EDA5-8929-214B811AA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8360A6-EF8A-B888-C07B-99B52A9FFF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472" y="1007405"/>
            <a:ext cx="8366760" cy="481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558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3B4E-E862-A967-BB1C-518AD75D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BD0BD2C-4DE6-CEDC-7FC7-B2EEF429D922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4F1964-D816-0345-DBAE-C4D97BDE08BD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762C19-27C1-3AEF-D144-7CB01D3FE05C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DE98BAA3-6C65-E5D5-E601-8B4F7E93C743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D69CE1-BFF9-3B6D-327B-E527A3429C1B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Yacht Dynamic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7D9EDA-33EC-772E-7979-B2ECC83703F9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80C91-69D1-E165-2976-C9CBD2FA5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8468" y="915809"/>
            <a:ext cx="5444791" cy="442944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motion of the yacht is modeled using a three-degree-of-freedom (3-DOF) maneuvering model, which captures the dominant planar motions of a surface vessel.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describes the vessel dynamics in the horizontal plane, accounting for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vessel state is defined by the position (x, y), heading angle ψ, surge velocity u, sway velocity v, and yaw rate 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equations of motion are derived from Newton–Euler rigid-body dynamics and incorporate hydrodynamic effects through the MMG (Maneuvering Modeling Group) formulation.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79A1030-4E29-558F-4F42-0C84DAABA1E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86008" y="1179696"/>
                <a:ext cx="5444791" cy="442944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governing dynamic equations can be expressed as: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˙​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˙=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𝑣𝑟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𝑌𝑣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˙​)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˙=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𝑢𝑟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𝐼𝑧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​−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𝑁𝑟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˙​)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˙=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includes the kinematic transformation that converts body-fixed velocities into earth-fixed motion: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˙=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𝑢𝑐𝑜𝑠</m:t>
                      </m:r>
                      <m:r>
                        <a:rPr lang="el-GR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𝜓</m:t>
                      </m:r>
                      <m:r>
                        <a:rPr lang="el-GR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𝑣𝑠𝑖𝑛</m:t>
                      </m:r>
                      <m:r>
                        <a:rPr lang="el-GR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𝜓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˙​=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𝑢𝑠𝑖𝑛</m:t>
                      </m:r>
                      <m:r>
                        <a:rPr lang="el-GR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𝜓</m:t>
                      </m:r>
                      <m:r>
                        <a:rPr lang="el-GR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𝑣𝑐𝑜𝑠</m:t>
                      </m:r>
                      <m:r>
                        <a:rPr lang="el-GR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𝜓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79A1030-4E29-558F-4F42-0C84DAABA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86008" y="1179696"/>
                <a:ext cx="5444791" cy="4429442"/>
              </a:xfrm>
              <a:blipFill>
                <a:blip r:embed="rId2"/>
                <a:stretch>
                  <a:fillRect l="-1008" t="-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14E19FD2-4F62-7876-4F57-7723F218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032" y="6419088"/>
            <a:ext cx="300837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FA18016-83F4-A6EE-2E71-5E26D4AA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9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BC23E3-D3DC-A2B5-6668-27306CF3ADF1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635E4F0C-8234-375C-D973-5CDC7A5C7440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8251CD24-0385-3925-7841-3C1B9066CBDF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626C7156-961E-9360-2508-81B88FD8CA38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689A6BDC-05D6-0555-18E7-4BE62801BBB6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697F5E11-E2EC-6753-6618-1BC8E0AFB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378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8864-A64A-C2B4-F859-31EBD9BA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21FE345-7B3E-2D85-B5A8-204A9FD17435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E83D68-B48B-503D-C177-0FDA295115A9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26711F-7593-AA58-4BE5-BD3C33D269EB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2742B3B9-E042-4668-7E93-367EBA087A5B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6AA4707-CC2D-79E4-23AF-0F8D485D4033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Yacht Dynamic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6722CD-1387-3536-5BA9-E9FD5787FCDD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A436DA-A982-A6B9-CFF2-5C166207DEC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133856" y="1243902"/>
                <a:ext cx="10003535" cy="37673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Modular Force Decomposition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total hydrodynamic forces acting on the vessel are decomposed into contributions from the hull, propeller, rudder, and bow thruster.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𝐗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𝐗𝐇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​+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𝐗𝐏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​+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𝐗𝐑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𝐘𝐇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​+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𝐘𝐑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​+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𝐘𝐁𝐓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𝐍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𝐍𝐇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​+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𝐍𝐑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​+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𝐍𝐁𝐓</m:t>
                    </m:r>
                    <m:r>
                      <a:rPr lang="en-US" sz="2000" b="1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A436DA-A982-A6B9-CFF2-5C166207D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33856" y="1243902"/>
                <a:ext cx="10003535" cy="3767328"/>
              </a:xfrm>
              <a:blipFill>
                <a:blip r:embed="rId2"/>
                <a:stretch>
                  <a:fillRect l="-609" t="-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528E16C8-BF4E-7490-D08F-B3C57C5C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5512" y="6419088"/>
            <a:ext cx="290889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81D619F-87AC-796F-7DAB-13EF724B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10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A65BA1-544B-BAD6-63AB-DD13BD146E32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87E0AA07-AFEA-4717-9F3E-72B1CB1D6B74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28A1519B-59B3-8D08-B2CA-5DA9CFF42DAD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BD9D3F55-0D48-B8FA-5891-838F1555F136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B2F6519B-2215-848D-8209-A0F1E8E95C7A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9FCD452D-82A6-9891-B71E-C8F53E3FB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314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0D1BE-B5A8-D747-0BE6-06FA3E35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CEF7262-4517-C732-19A9-1B81E248DF27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C38962-DE78-3C53-43A4-54B7EB065EB2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A50300-9C96-9443-EAF1-57F1DDA61950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1AC45266-2905-18A2-C995-D18D93F0CEFC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EB27E14-19E8-66C4-730E-DD7FFC961DF6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Simulation Environment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0DABD-D5FB-774C-24EC-EF5C1F3DD4F0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64010E-A7FF-2C95-544E-30F61D4F71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07" y="1006651"/>
            <a:ext cx="3646385" cy="449897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ACCE1C-E0F5-5100-F939-AE6F758D2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8327" y="1283855"/>
            <a:ext cx="6973640" cy="426391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provides the 3D simulation environment for vessel docking experiments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Camera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renders the simulation view, allowing observation of the vessel motion during docking.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 the marine environment.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MarinaRoot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objects define the docking infrastructure and obstacles.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ShipPivot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myyacht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the vessel model and its motion reference frame.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PythonReceiver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real-time communication with the Python dynamics and control models.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scenario components allow flexible generation of docking scenarios.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2309D2E2-3665-7DAE-85AA-8E9243ED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3464" y="6419088"/>
            <a:ext cx="2980944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D74608B-7748-BBD3-5071-27122BBE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11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C163CA-BECC-9107-513B-EC982546177F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18DA5A9F-AF30-BD29-73F2-42292EFBF916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9C00DDA5-33A5-57BD-1028-8E493D499FB3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DCE7842F-0FFA-60E5-682F-36CD5093C4D5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DBCD343B-47FE-CF8A-8E44-9FAC1261F206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9F150594-DF15-79A7-E37D-6097F8C6A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263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D051-866E-239D-270C-A45181D4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B8B92E0-EF6C-6EC4-BB99-A4BB7DF3DB37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33D0A1-F067-674D-DC9B-89018632C600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28DC58-FBAE-26E9-2157-4B568C93C81F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47AC3020-6316-9654-8C6B-F35FF8ABA826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0D00D2-7173-F75B-8FC0-07FBF33FF467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Simulation Environment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CCA1C-2C6C-DEED-8EF0-FC065AF2A26B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D5903A-DC27-E8DE-42D9-D4924C63E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959567"/>
            <a:ext cx="5663675" cy="47724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Marina was constructed using long rectangular sections representing the Dock sections.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rectangular sections were placed at either side of the Dock Section, representing Piers.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lighthouse is placed at the base of the Dock Section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Dock Goals were created with a Dock trigger and situated between the Piers.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 types of obstacles were modeled in the scene.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Buoys mark the docking region and area of confinement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Life-saving buoys are placed in front of piers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 obstacles are modeled as either static or dynamic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CCFFDEB8-3426-3952-4872-71941CCE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19088"/>
            <a:ext cx="2898648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188A708-53D3-48A7-F3A8-7AFA025B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12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22942D-A8CC-8904-9B5B-5B63AD1CC2DB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4B706762-6E58-1873-DB24-8184E920A965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E00D138A-DFA9-8B25-727D-64EFECAE85B5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0A23157F-21BB-6DE4-5406-2E07B5C1EC32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BC075F75-37A7-A955-5E25-0D4DDD47E404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E11564E6-1FD5-2DAA-99A6-9E84FBF4A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B17A22F3-F59B-061E-5274-7AD236FEB3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59566"/>
            <a:ext cx="5286375" cy="477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91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6B55-9A2A-308B-9789-5D949BE7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ED518AF-E3A1-EF6A-F1C5-A4AAADC4AC7A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CCE545-CCAE-18C0-09DD-2DDCEA01B8E2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172D654-B29B-B3CB-1E2C-009DE1317DE1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F78E6B06-47D1-189F-15DF-082DD25457A3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D32BC36-5693-59B2-31D7-184C2F7B618B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Communication 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70C60F-AFC2-EA27-7943-8AB965A41284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1DEE0CB-05E5-CC4C-B8F7-B0133071406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394960" y="1261872"/>
                <a:ext cx="6272783" cy="429768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simulation uses a TCP socket communication interface to exchange data between the Python dynamics model and the Unity visualization environment.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PythonTCPReceiver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component in Unity acts as a TCP client, connecting to the Python simulation server via localhost (</a:t>
                </a:r>
                <a:r>
                  <a:rPr lang="en-US" dirty="0">
                    <a:highlight>
                      <a:srgbClr val="00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127.0.0.1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port </a:t>
                </a:r>
                <a:r>
                  <a:rPr lang="en-US" dirty="0">
                    <a:highlight>
                      <a:srgbClr val="00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5005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Python process sends JSON packets containing vessel state variables such as position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heading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throttle, and rudder angle. 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Incoming messages are parsed and applied to the vessel using the YachtPoseApplier and YachtControlSurface components.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1DEE0CB-05E5-CC4C-B8F7-B013307140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394960" y="1261872"/>
                <a:ext cx="6272783" cy="4297680"/>
              </a:xfrm>
              <a:blipFill>
                <a:blip r:embed="rId2"/>
                <a:stretch>
                  <a:fillRect l="-583" t="-567" r="-1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FAA8A893-EE93-3832-80E2-EBD9E8A2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19088"/>
            <a:ext cx="2898648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F34D63B-29AB-D218-2898-17341785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13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3C1083C-CB48-AB19-5B19-C2EE92B71BE0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FCA3E28E-D1F0-461A-206F-3A1EBCF4901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2A0CD93B-FC30-4671-6417-C59BB429E1DA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281B13C7-BD95-B2E4-B2E9-13B97CF4BEBD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DDE533BD-9076-25B7-69C6-AC2B50FC0FC1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EDCEDD65-1B40-472E-002F-4557BEE60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450D4A-D4AB-D64D-B322-DF4D804196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1059246"/>
            <a:ext cx="4712776" cy="445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A9D1A-071D-DEF5-704A-3AFE1A5F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325EDF3-ACEA-B668-04B5-C817464CDF86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3A0E8C-9F7F-82D9-27F6-D6A008E1845D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604625-052C-4E0A-E729-A46548D14C81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2202DB98-74DE-8126-5660-8CED3DA882EB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12F5FD-96EE-1633-B52E-F9396F7F1B63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Communication 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CCC910-D21F-5DF1-954D-79FCAC674453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7B847-08F6-7D15-E4FA-A72948677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4103" y="1956816"/>
            <a:ext cx="6263639" cy="36027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thread safety, received data is passed through the UnityMainThreadDispatcher, ensuring updates occur on Unity’s main thread.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enables real-time co-simulation, where Python computes vessel dynamics while Unity provides visual feedback and environment interaction.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AB616BF9-D8A1-21A6-42FA-B8C13C3E2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419088"/>
            <a:ext cx="2971800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97B73A5-B819-3222-6064-3BA85BC5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14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DD3614-5AC4-3467-E154-13CABD2C73A5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51F92D98-4999-A9B6-12EE-74DC54863FF8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2CF6D7AA-FA5A-9491-734D-1BDBCEA5EE04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52A6D355-8F47-597A-B7FB-A4DDC63E1B5E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4F879BA7-2366-FA96-D543-498548407B5F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21DEBC27-CABC-CBFF-9C9C-C801DB2AA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E88448-6F6F-E558-D860-BE5CDB577F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1059246"/>
            <a:ext cx="4712776" cy="445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52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C13F-8341-1CC9-C195-4E46C344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55C0E55-878A-A26E-C948-FE4EE504DB07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936951-92DC-A1E9-1D51-87D2EE1731A9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7CF4F76-3E3E-902E-FC86-8DAB8A9396E2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135686BB-6F56-C7E4-6BC6-4684E96ED5A2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29B1BE-1B85-7164-8E1F-C7905FBBEB06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NMPC Controller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647C0-AFC8-F836-0D41-060C0F679993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6D1BCE7-9446-F87E-51C4-5FF85688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5677" y="6216265"/>
            <a:ext cx="236090" cy="316652"/>
          </a:xfrm>
        </p:spPr>
        <p:txBody>
          <a:bodyPr/>
          <a:lstStyle/>
          <a:p>
            <a:fld id="{148CC95F-0247-41B6-91CF-DC97C76A7088}" type="slidenum">
              <a:rPr lang="en-US" sz="1200" b="1" smtClean="0"/>
              <a:t>15</a:t>
            </a:fld>
            <a:endParaRPr lang="en-US" sz="1200" b="1" dirty="0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33EED276-032B-C525-C0DD-038F50F4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63" y="6176375"/>
            <a:ext cx="98884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5ACFF8-7B8B-4FDB-C651-89C3D4DDE525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E8FD2AA2-B0A4-8358-D05A-784EB9D606D9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4DDF0205-6917-BB55-A997-72C3FF331633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F40B984B-3698-68EE-7339-0CDA24F0F73B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19AA5D45-6FDA-A1D7-824B-B29F57977E2B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B77CC566-D371-47A4-8B11-AED783728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5BF16F-0C2D-4ABF-BE5C-6209C6A387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216" y="868679"/>
            <a:ext cx="8485632" cy="507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67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8208-F120-EA39-04AA-DC9B3523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BFD6096-2BF5-0D8C-ED95-0D63C5E10C13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335FA9-759B-1D89-19FF-714CBF6A11D2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Reinforcement Learning with Gym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8446D-78F5-B2E5-1FF3-01ABCD8369D3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0E8BA5E0-14BD-F867-10BE-F7037E7D95C0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9BE15AC-33DB-2966-943C-5BA257603975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A7C96D-CEE2-2CA6-C514-381CCD5C65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13" y="1500982"/>
            <a:ext cx="5300662" cy="353377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1FEAD-8DF3-0CBC-231B-6085983D3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7075" y="1136544"/>
            <a:ext cx="5878511" cy="44778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 trains an agent to make decisions through trial and error by interacting with an environment.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Gym (Gymnasium) provides standardized simulation environments for developing and testing RL algorithms.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observes the state of the environment and selects an action using a policy (often a neural network).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 returns a reward and a new observation, indicating how good the action was.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 simplifies RL research by offering ready-to-use environments, consistent APIs, and benchmarking tools.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C1A7A133-B93D-7447-E815-48977346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419088"/>
            <a:ext cx="2935224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84B072D-C935-E681-FCBB-BDBD2C1C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16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37DAEB-C34D-789F-9C93-2202A6C49E44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2E58CA54-BA3F-E001-E4AF-A391EC042E49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9E3AF37E-7C26-AEBB-E03E-44BD1186DB7A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F9BBD492-5BA1-2479-87C2-DF65BD914E8D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826F2633-CB8E-EF8A-BC99-49F1AF1CB315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EA1FE402-5624-7EAB-A115-6F22CB0B2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1228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CBD8E-CF64-5016-8002-97B12896F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270E9CA-EBE6-FADE-F1B1-192E98A4E3E2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AD8CE2-6F33-B2B3-35E5-CB98315861C2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DRL Environment Setup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F0E427-9A53-3EEF-B65C-88490D905D59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289FD866-F255-9AEB-3EEF-95C14C3645C1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1A04471-4AFB-B382-3EAE-B2D9074DD403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61B235-FB0D-F73A-F3AB-7E77A4ADF8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1" y="1059659"/>
            <a:ext cx="5455284" cy="476449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AC4F79-6177-6A68-420D-0082774FC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45920"/>
            <a:ext cx="5699759" cy="40860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Marina Scene was exported in JSON format representing the positions of the docks, dock goals, and obstacles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Obstacles were labelled and given an ID number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obstacle was exported respecting geometry; ship obstacles were exported in a capsule form, buoys were exported as circles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JSON export file was mapped to a Python Obstacle scene script for DRL training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A2F7B659-D9EC-8ADD-A7B1-69E11E83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176" y="6419088"/>
            <a:ext cx="2999232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1EFD962-39FA-CF48-BD4E-7C49FBE8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17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678D2B-3A64-C604-60C3-10D3CC99AF0E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EE107408-D85A-4627-E4A9-929E01D12073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49A846D3-DD69-B9DD-FE88-B3CFAD782EB9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AD2DC63F-AFA6-4B7C-C399-EB724AE6E470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B93FEF5A-B725-F04F-DFF0-7C047328CC3C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C00BA055-6DB8-3220-F2C5-2E909FB0F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395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D47D-D81F-D749-2881-85A2257F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91B0A87-6525-EA5E-FEA0-8EE9AF3796E8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ACBFF0-5F9E-75FA-BE3E-7B6BEB7D769A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Wind Disturbance Model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D5AD82-4D72-1583-02D5-79044A4AD569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5A0C3C84-F763-15A5-7296-2D7C4435DC2E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A431B93-B99E-418D-D371-F82562311131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49C9F5-34E9-FCCE-2D5B-6F0929382D7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005839" y="1029103"/>
                <a:ext cx="9610345" cy="4702889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simplified stochastic wind field model was incorporated into the simulation environment to introduce environmental disturbances during training.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defines a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wind speed and direction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representing the dominant background wind in the environment.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capture realistic variability, wind fluctuations are generated using an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Ornstein–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Uhlenbeck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stochastic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process, producing smooth gust disturbances around the mean wind velocity. 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wind velocity components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evolve over time and are applied as a drift term in the earth-frame vessel position, perturbing the vessel trajectory. 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disturbance model improves the learning process by exposing the agent to non-deterministic environmental conditions, encouraging the development of more robust docking strategies.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49C9F5-34E9-FCCE-2D5B-6F0929382D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005839" y="1029103"/>
                <a:ext cx="9610345" cy="4702889"/>
              </a:xfrm>
              <a:blipFill>
                <a:blip r:embed="rId2"/>
                <a:stretch>
                  <a:fillRect l="-380" t="-649" r="-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C1C7317D-28C0-DDA2-3F31-D81CCFF4B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419088"/>
            <a:ext cx="2971800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C1C01FE-9527-9A76-6863-30D23C7C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18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6945766-0D2F-A3FD-8D20-6025FFF0C7B8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A740D45D-CEBE-71E7-C78F-706BA77F95F0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B9414FFC-78D1-1750-EAC9-20B70688F558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03266630-FB78-4C40-474C-677F3CE9013C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13ACCE4E-A78F-45B0-C1ED-51B116380B85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94D16494-196B-B656-0F7A-564FA17DB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974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0EE3-5F9E-54F4-92BA-F4BC6705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D5FA448-94DF-5D4A-B63E-AA4027F204B9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6973C0-9A2F-5576-73B3-3AF804D298EF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DRL Training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A2C211-886F-B915-A72D-8DBE700F8D82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77A4A7C2-8126-6534-5187-0BEB3D5D4AE3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3F29929-000C-BF8D-6B64-B7825043A305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E8581A22-DA23-67C9-37ED-4F6A19BAAB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419088"/>
            <a:ext cx="296265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1140EFB-B1E5-F2D5-575A-80C1EAD7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19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EBA7D56-73F0-B4CB-AD28-012C2BBE2D6E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F905B9A5-6980-5FA4-0744-787551053A36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10B024A2-252D-34E0-1457-CBD0C78B7AFC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C652E39F-A1C0-BEAB-C88F-3F277250CBCF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CD6C97E4-56BD-AC49-5D87-BFD64B612BE9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75205783-213A-F721-8871-207CE56EC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88210-26E8-4AEF-C09E-502E858A42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30" y="960120"/>
            <a:ext cx="9377218" cy="47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29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BAD02-1E1B-938F-BEE3-155F1792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815282A-F202-724D-19C7-B7F85B456A90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D47169C-A927-7126-69E2-B9DF8CA10DBB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822F29-6E3E-83B9-984C-A6298D9365AA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44F921EF-D898-202B-83AA-9A7151FC51E3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EFB68C-FC8C-50EE-D217-B12CD7B5FA32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Results - NMPC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033F6-DB07-D201-CE6C-A04201C936CC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D4932331-D35A-FAF0-1056-922B575B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7744" y="6419088"/>
            <a:ext cx="3026664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4DA673A7-1779-E555-2730-0CB43141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20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12F0F5-0604-D176-7837-9D16BF9EDF11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3607F151-3A44-35C5-A5EC-7361079DD258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CAF4527F-310E-DB1F-1010-3ACF41AC4247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AC28A42E-5965-9D63-C7EC-66BDE204CCEF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3644765A-47BB-3C49-BE3A-EE4BB195DAAF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E4C5772C-8FF2-A6A3-668B-814647848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BDFF19-3980-2031-7799-391FBABA7F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5" y="1314847"/>
            <a:ext cx="5241925" cy="393144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AF653F-857B-A099-C923-E17D2408E0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050" y="1246386"/>
            <a:ext cx="5424488" cy="406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58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3DF9-56C9-089A-EAD3-9BFDA5E5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31F4DDD-2313-21C5-4944-B54C18841FAF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8251D89-4A2F-175F-142F-BB4BC38B224B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452A41-1B9E-F4DF-51D4-2F73D45D8569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970C6537-F47F-46DC-F4B2-D24F67E9FEA1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8F99192-C8BE-06EB-D2CF-B917B2C76379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Results - NMPC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3D07D-6FE2-2DB4-6D98-52E4FC921E2C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0B14E11B-9868-F906-9F8E-4387438F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19088"/>
            <a:ext cx="3035808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87A1D4B-B3EE-C41C-FD60-E36E38A8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21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ACB691-5C71-D872-32AB-4D2C354BEA50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DF80FF2C-4ACD-8F84-239E-AC11E2F74396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D4E90DD5-272D-7160-8349-3D156A29399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A7694934-2780-F866-20A5-F57B7C6E5883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883B36D2-4AE1-B547-C4F4-43790D4DFE1D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506C6296-CCB3-D1D9-9EED-1724FB224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6F733C-FA6F-0AC8-374C-85E119B3BE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31" y="1323975"/>
            <a:ext cx="5022850" cy="3767138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4D0DFEB-0549-D6A1-C362-8B0ECC3301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456" y="1323975"/>
            <a:ext cx="5022850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22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34BE-C974-36C2-7392-9EDE8B02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938A802-0F69-3D5F-9985-9AFBD502961C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D2B0F5-9B47-ED46-1099-B77523EDED5B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772BF78-2C5F-BB90-63B8-C70157FCB797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F6FC7124-1FA4-22C6-4320-7321FDE964EB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7281ADC-345F-CD84-271A-D117B7D24139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Results - NMPC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14AE6-A73B-EB8B-038A-EC0E69537C1E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ACF3D837-35CE-48F9-394D-E517BE16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419088"/>
            <a:ext cx="2990088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F008652-4F9F-5B87-8526-FFE2B83D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22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8EFBE43-8348-E27A-B249-A99668DDA5CC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F6B17611-C081-E6DC-3CC7-01295C9975AF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3FC4D5D8-4BA4-CD05-42CA-EC88971543A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74539C04-07D5-774B-E812-3C26BD1FB8F5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5ED933AF-0025-28E4-16C8-17CD9EFE29A6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CAB4D3C5-81AA-5207-3B82-A8B4AF1B1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AFD317-EB87-2A19-D13C-3A2A37B6A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2161" y="1581913"/>
            <a:ext cx="5074920" cy="346557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OPEN mode, the throttle remains saturated at its maximum value, enabling an efficient long-range approach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DOCK entry, the throttle is abruptly reduced to approximately 0.25, consistent with the terminal speed policy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throttle reduces further toward zero as the vessel approaches the docking point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staged reduction confirms correct implementation of the deceleration logic.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80815DB-85EE-F97D-B6C3-32810B80CA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13" y="1311871"/>
            <a:ext cx="5148262" cy="386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39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D4C6C-D4F4-4226-D540-818D8E80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7515444-6542-B7AF-FF93-B38DAAF4BBD1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E8E041-2A15-57A5-E4C0-B6393380CE7D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C1B3173-CCCD-7937-89A7-D9E864DDA97D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5F2704C5-CB5D-5A1A-0C8D-97ED924DB5B6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B4CDBC-93CE-38FB-C2AF-46195DFB0759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DRL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B229B-5AC1-8CBF-123B-CFF066250C28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7EBBD184-1F77-0A0E-935C-9B0533B8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419088"/>
            <a:ext cx="296265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C9C34E9-1761-7061-4A19-D57A09F4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23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15C3B0-0663-2591-997F-CFDC9011A524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9CEA12FD-663B-6A6D-C315-7B5EA523ACD3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CC13C8CC-4AD2-6345-2C69-E686FEB715F1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0570412A-7510-BE58-DB68-DB0540258D7E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9EC2C0E5-AD46-81FE-C166-F243389FFFCA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177F48FE-EB78-E6B1-349C-43DAC0411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D647FCCE-77AA-E3DF-7C02-5BFCEC9CBF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/>
          <a:stretch>
            <a:fillRect/>
          </a:stretch>
        </p:blipFill>
        <p:spPr>
          <a:xfrm>
            <a:off x="520700" y="1817904"/>
            <a:ext cx="5421313" cy="2957079"/>
          </a:xfrm>
          <a:prstGeom prst="rect">
            <a:avLst/>
          </a:prstGeom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F8FEEA8-20D2-11F9-DE77-E7BCC48C5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7" y="2041683"/>
            <a:ext cx="5120215" cy="295707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 include: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(300 episodes): success 100%, collision 0%, timeout 0%.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reached 100%, recover reached 100%.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steps = 934, P95 = 996, indicating consistent phase completion.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73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74D3B-3BE4-271D-71E4-02A6825E4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BCC1F8D-6102-244D-5DB5-0B62801CF779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5D21C7-AB22-E491-1565-E9430333ECCB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0F8171E-4BA1-A4B5-5255-72A9EFCB37ED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6A671929-D771-FA82-9656-0AA1E8EAB653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B618FED-2725-34C1-F7AE-A2BBCE612D8B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DRL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D00942-0AEE-70BE-DB9A-D5FD1993B25D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3DD6F1-AF9A-2CAD-8643-5C9A93BF07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6413" y="1798061"/>
            <a:ext cx="5421312" cy="295707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C5623AC-C4BB-E87B-CA26-9C2261C09B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1250" y="1798061"/>
            <a:ext cx="5421313" cy="2957079"/>
          </a:xfrm>
          <a:prstGeom prst="rect">
            <a:avLst/>
          </a:prstGeom>
        </p:spPr>
      </p:pic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79FA0FDC-B427-6A47-C997-F416739A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6888" y="6419088"/>
            <a:ext cx="3017520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109F5E6-B3F1-87A0-1017-5A76464E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24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20FD9E-8C52-12D9-BCB9-E9A3349E22D4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BF8900BA-4024-8FF7-3091-C49BF6465D1B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C031B0D6-98E2-07B2-7001-AF8AE6D30ECF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9287F4EA-0A8B-BDD6-643B-CABCE58A780C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87B2456D-F023-33C2-B57B-DC1380F6BEA6}"/>
                </a:ext>
              </a:extLst>
            </p:cNvPr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D92BDC9B-FB69-30D6-D903-7CD7FDA09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727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B4CC-97C1-018B-725B-320A7F1C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A013414-8585-FCFC-3E0C-917F7261F784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99EB2C-071D-56DC-FB39-62DAB885CEB7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BA3C8C-388A-FFCD-DE22-8A1FD1D1170E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A2A5995F-1C8F-14A7-7156-4F550FD59567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4AEBBC2-E35E-D4D8-B216-3892D5B1527E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DRL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174E7D-516A-A5B8-6F06-C92FEDD28D54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4166C333-0A44-F29A-B02C-A2ECFF31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8328" y="6419088"/>
            <a:ext cx="2926080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3F2BAE3-45DA-8C01-FF4B-27DEFE0C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25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0496A5-3AA5-319A-FB04-F5A9123535CD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C2005F5C-C8FD-211D-DD09-2828051579D3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DFDAB1D0-FFEA-93DC-657B-FFFD7E778451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BD8A01FD-8EB9-F0F0-09CF-03595C1DB19D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D881DC65-365E-4D7A-99AC-E79EAD279591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2F2AC5FC-9608-4F3B-F07A-30BB7C148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AC9EBD-DCDA-A764-FD94-ECB10B9B7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3962" y="1581912"/>
            <a:ext cx="5381625" cy="3730751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and shaped inputs are close, indicating effective Learning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Behavior is by phase: Approach, Avoid, and Recover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policy outputs are comparatively smooth, the shaped controller enforces a stronger, safer envelope (minimum forward thrust + high steering authority + full bow thrust) near obstacle interaction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29C0F6F6-1403-A063-3E09-161D7756CC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/>
          <a:stretch>
            <a:fillRect/>
          </a:stretch>
        </p:blipFill>
        <p:spPr>
          <a:xfrm>
            <a:off x="506413" y="1059659"/>
            <a:ext cx="5381625" cy="44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14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F31D-386C-1B4E-AE3E-B1E28C44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3C3F360-517E-CD4F-4CC6-224E3D858FD8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0CCE86-2C92-EC61-AFCE-BAEEFDF8726E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Hybrid Performance Analysis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192ACB-E22C-26FE-A3EC-BD360A60E733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88574C1C-5C77-2050-709C-5CAC9B4DBE13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C887A60-2634-E542-3E04-45A827564C73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FE5271-7145-91A4-4F89-9BA1A9F5AF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6413" y="1719072"/>
            <a:ext cx="5165725" cy="3236976"/>
          </a:xfrm>
          <a:prstGeom prst="rect">
            <a:avLst/>
          </a:prstGeom>
        </p:spPr>
      </p:pic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C3DDC108-6DC5-3297-28D7-F4F0C0E1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8328" y="6419088"/>
            <a:ext cx="2926080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BF74429-201F-314F-D4ED-600CD1E2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26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E65881-EF7A-F394-8346-68AD82E8E6D4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32211E4B-1F99-9AEA-D920-FAD811717EB8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6DB4CF1F-7EAF-CAF2-C869-F98B7046202A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D57B77F8-D27F-FF72-7402-82B14E2DA585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26D8BFED-33E1-CBF6-D3EE-9E8163102D4C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511CF44D-A822-7321-C7FD-DB5E20355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BBAB90F-A7B3-3F5E-334D-EC7F3CFE7F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6096001" y="1157962"/>
            <a:ext cx="5360988" cy="425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79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93E0-E916-E46F-63B2-81635FAD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A807EB1-BC92-684D-66EE-835B62BED6E5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A552C9-CE34-0AB2-1B40-552220404025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Hybrid Performance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5D62F5-B2BE-311E-190E-EE16EB4430A0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359B38A0-BF54-AF2A-8E17-97DF7ABC00DE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3815D3E-6F9C-51D0-C8CE-2FFA987B6E58}"/>
              </a:ext>
            </a:extLst>
          </p:cNvPr>
          <p:cNvSpPr>
            <a:spLocks/>
          </p:cNvSpPr>
          <p:nvPr/>
        </p:nvSpPr>
        <p:spPr>
          <a:xfrm>
            <a:off x="94488" y="6004846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4D389FBD-86DA-00E8-7F8E-9DE5FB10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419088"/>
            <a:ext cx="291693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6240430-BBBA-A826-D903-DFBC1599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27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A231DC-8459-7A19-0CA9-E7AFD1D6B3DD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860A086E-C5C5-675A-2E4A-58F2B9D14CFB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37940018-1AC3-36DF-4A37-1894F50F010C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C24902B7-D462-855C-84E4-C39974BEF4AF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ED35BFDC-28FE-F593-F374-42CFA5BD55C4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D603E13C-BD11-EA4D-1DC3-844E58CD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1CD777A0-9AAC-E690-BAFE-B9876B1178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096000" y="1435608"/>
            <a:ext cx="5556250" cy="3721608"/>
          </a:xfrm>
          <a:prstGeom prst="rect">
            <a:avLst/>
          </a:prstGeom>
        </p:spPr>
      </p:pic>
      <p:graphicFrame>
        <p:nvGraphicFramePr>
          <p:cNvPr id="28" name="Content Placeholder 27">
            <a:extLst>
              <a:ext uri="{FF2B5EF4-FFF2-40B4-BE49-F238E27FC236}">
                <a16:creationId xmlns:a16="http://schemas.microsoft.com/office/drawing/2014/main" id="{B1BE851D-1C40-F0FC-6425-05D59389B6C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09361100"/>
              </p:ext>
            </p:extLst>
          </p:nvPr>
        </p:nvGraphicFramePr>
        <p:xfrm>
          <a:off x="822958" y="764845"/>
          <a:ext cx="4992626" cy="502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96313">
                  <a:extLst>
                    <a:ext uri="{9D8B030D-6E8A-4147-A177-3AD203B41FA5}">
                      <a16:colId xmlns:a16="http://schemas.microsoft.com/office/drawing/2014/main" val="3000226222"/>
                    </a:ext>
                  </a:extLst>
                </a:gridCol>
                <a:gridCol w="2496313">
                  <a:extLst>
                    <a:ext uri="{9D8B030D-6E8A-4147-A177-3AD203B41FA5}">
                      <a16:colId xmlns:a16="http://schemas.microsoft.com/office/drawing/2014/main" val="673836201"/>
                    </a:ext>
                  </a:extLst>
                </a:gridCol>
              </a:tblGrid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675424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368.8s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806806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5586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846376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 Transitions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172719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DRL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009266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Override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65876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 out radius Learnt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691436"/>
                  </a:ext>
                </a:extLst>
              </a:tr>
              <a:tr h="61516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distance to obstacle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246213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throttle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836111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|rudder|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83287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|bow|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67299"/>
                  </a:ext>
                </a:extLst>
              </a:tr>
              <a:tr h="35152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 min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0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564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5E946-CBE2-CB5A-AB5F-936434C1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D2FBC29-36F7-84A2-39A3-E94F43E6516D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C44183-C5C1-DD02-FABB-074DCA6CE725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Hybrid Trajectory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2D89865-79F1-3472-61BD-AF4B7528ACC7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822D274C-FDD0-410E-0CE2-45603AA5E08E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3A23472-57EA-DAAC-10B5-4A77B4FB4E9E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9C1F0BC-19C1-103F-5478-BFC58730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5677" y="6216265"/>
            <a:ext cx="236090" cy="316652"/>
          </a:xfrm>
        </p:spPr>
        <p:txBody>
          <a:bodyPr/>
          <a:lstStyle/>
          <a:p>
            <a:fld id="{148CC95F-0247-41B6-91CF-DC97C76A7088}" type="slidenum">
              <a:rPr lang="en-US" sz="1200" b="1" smtClean="0"/>
              <a:t>28</a:t>
            </a:fld>
            <a:endParaRPr lang="en-US" sz="1200" b="1" dirty="0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F564E177-AA6F-D161-AEDE-5A27D46D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63" y="6176375"/>
            <a:ext cx="98884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A5E992-C02F-E18E-B55B-6B0E125B1633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CF843C3D-5D4C-A1A3-4F33-6A75D07BD4C2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F3D16A71-B3CC-6BB6-B183-99D4421D0154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55249946-8C0F-5853-9FB6-7D65BF9E14C0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2A6ADADC-EE40-23AE-2997-5D3640061132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9DBC8E2E-59BA-5FF9-BC02-6B4596D8F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EB2133-990C-D889-B380-1B68C6DC1B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768096"/>
            <a:ext cx="7991856" cy="482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47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91A9F-238E-BC7D-12E9-4E74A147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4E62B13-04EA-3915-A891-84F0AD278B73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96DDAE-BE38-CE47-32CB-1E54C9B7804E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E1AB4C7-2D07-3E53-AA1E-C64F2C154306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9C9FD303-1660-2F9D-4100-055295193DDB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07BD1CB-A0F2-1740-E40B-2C8832AFDC8A}"/>
              </a:ext>
            </a:extLst>
          </p:cNvPr>
          <p:cNvSpPr txBox="1"/>
          <p:nvPr/>
        </p:nvSpPr>
        <p:spPr>
          <a:xfrm>
            <a:off x="0" y="98881"/>
            <a:ext cx="8870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NMPC vs Hybrid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5C06C-9E00-9588-4742-FB0CC18CB89B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7C837F34-F76C-1BBA-0007-6B4B455E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419088"/>
            <a:ext cx="2971800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4AA17B23-DAB9-D805-E9D6-BBBAB2E5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29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737C98-46CE-BDFA-A082-3161F9BAE20D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C4C85E6D-5EA3-1295-2B53-349B3C4D0630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E342705F-8466-ABB7-9065-CFE6BCA1D8E2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16D5FFC2-C738-94F6-B90B-927070023727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E2BFA87B-0F77-2324-125B-F47EE87D690B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1B6A6F07-2E49-4FA9-7D45-1DFBAB440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661930-5E73-468F-AEB5-CEE2C22459D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740822"/>
              </p:ext>
            </p:extLst>
          </p:nvPr>
        </p:nvGraphicFramePr>
        <p:xfrm>
          <a:off x="2724912" y="1344168"/>
          <a:ext cx="5349240" cy="41095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46023736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86267526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55905390"/>
                    </a:ext>
                  </a:extLst>
                </a:gridCol>
              </a:tblGrid>
              <a:tr h="54733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263733"/>
                  </a:ext>
                </a:extLst>
              </a:tr>
              <a:tr h="54733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102814"/>
                  </a:ext>
                </a:extLst>
              </a:tr>
              <a:tr h="54733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Logged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75211"/>
                  </a:ext>
                </a:extLst>
              </a:tr>
              <a:tr h="54733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Sample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648206"/>
                  </a:ext>
                </a:extLst>
              </a:tr>
              <a:tr h="54733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throttle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394177"/>
                  </a:ext>
                </a:extLst>
              </a:tr>
              <a:tr h="54733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Idle throttle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179620"/>
                  </a:ext>
                </a:extLst>
              </a:tr>
              <a:tr h="54733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Throttle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6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092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1C03-B489-2FBD-5D0C-9D7339EC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8CA02E7-FB05-4D3F-88DF-B83EC2084A42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98B78B-6252-816A-647B-8E51DF2476CB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4767423-E898-D59B-8A86-3124A7B015C4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C22C6671-71CC-41EE-A9B0-A7B68237A844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D79DC5B-7A0A-D936-9E3A-39F3291E6A70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99359464-D9F2-C939-E031-649DEF59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419088"/>
            <a:ext cx="2990088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139E9A4-3683-878C-B701-474A4C92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30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083B1B-878F-3840-65E4-6BC846F4ECD6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8E4F1966-B039-5796-6E3D-0A31DA3BA59C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66DECADF-BA5E-E4AE-EBE0-F0535390B968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309B6B7B-1760-6823-90F3-8994715AE324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BE9A1598-F5DA-D0ED-885C-F5701411182D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4CD88684-B832-1188-2C6F-0F5F78759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02236-A853-EBCB-CC30-4C99EB122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7" y="1029102"/>
            <a:ext cx="11018095" cy="470288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demonstrate the feasibility of data-driven control strategies for autonomous docking in confined environments.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DRL contributed mainly during avoidance/recovery windows, while NMPC handled structured trajectory-following phases, which validates the intended division of responsibilities.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 behavior was interpretable: shaped commands were smoother than raw DRL outputs, and phase overlays showed control effort increasing in avoid/recover intervals as expected.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rudder limits were similar across controllers, suggesting both strategies respect the same actuator bounds; differences were mostly in how often high steering effort was used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Shaping and clearly defined success criteria are the best influencers of a well-trained policy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remained conservative in hybrid runs; obstacle-distance stayed above the learned keep out margin, and safety overrides were active in riskier segments, indicating the supervisor logic is doing meaningful protection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324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55BB-62EE-0B51-3112-4BF9C0C6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DB106E2-2499-0FA9-65BC-C0D56A2561FB}"/>
              </a:ext>
            </a:extLst>
          </p:cNvPr>
          <p:cNvGrpSpPr/>
          <p:nvPr/>
        </p:nvGrpSpPr>
        <p:grpSpPr>
          <a:xfrm>
            <a:off x="0" y="-1"/>
            <a:ext cx="12192000" cy="703954"/>
            <a:chOff x="0" y="-1"/>
            <a:chExt cx="12192000" cy="703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226E79-543E-31F3-097C-31753C45B953}"/>
                </a:ext>
              </a:extLst>
            </p:cNvPr>
            <p:cNvSpPr/>
            <p:nvPr/>
          </p:nvSpPr>
          <p:spPr>
            <a:xfrm>
              <a:off x="0" y="0"/>
              <a:ext cx="7358158" cy="703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4CC0CD-31AE-FD5D-BF83-BF0C1720CBE8}"/>
                </a:ext>
              </a:extLst>
            </p:cNvPr>
            <p:cNvSpPr/>
            <p:nvPr/>
          </p:nvSpPr>
          <p:spPr>
            <a:xfrm>
              <a:off x="7358158" y="-1"/>
              <a:ext cx="4833842" cy="70395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63D300A5-E414-5C1B-E250-3CD452B8FE03}"/>
                </a:ext>
              </a:extLst>
            </p:cNvPr>
            <p:cNvSpPr/>
            <p:nvPr/>
          </p:nvSpPr>
          <p:spPr>
            <a:xfrm>
              <a:off x="7358158" y="0"/>
              <a:ext cx="1061686" cy="7039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2EF9322-59B4-0AE5-B136-7C902A5B5A14}"/>
              </a:ext>
            </a:extLst>
          </p:cNvPr>
          <p:cNvSpPr>
            <a:spLocks/>
          </p:cNvSpPr>
          <p:nvPr/>
        </p:nvSpPr>
        <p:spPr>
          <a:xfrm>
            <a:off x="0" y="5965079"/>
            <a:ext cx="12191998" cy="89292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29B991CE-703B-6BFC-4518-7D576BE8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419088"/>
            <a:ext cx="2916936" cy="365125"/>
          </a:xfrm>
        </p:spPr>
        <p:txBody>
          <a:bodyPr/>
          <a:lstStyle/>
          <a:p>
            <a:fld id="{98FC82B9-7F9C-42E3-A0CE-21AB8DA48E96}" type="datetime1">
              <a:rPr lang="en-GB" sz="1200" smtClean="0"/>
              <a:t>05/04/2026</a:t>
            </a:fld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20688BD-6BF8-9AFB-D9FF-C446311A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z="1200" b="1" smtClean="0"/>
              <a:t>31</a:t>
            </a:fld>
            <a:endParaRPr lang="en-US" sz="12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188B0E-B06C-ADF9-4793-221D9965BEC2}"/>
              </a:ext>
            </a:extLst>
          </p:cNvPr>
          <p:cNvGrpSpPr/>
          <p:nvPr/>
        </p:nvGrpSpPr>
        <p:grpSpPr>
          <a:xfrm>
            <a:off x="1293830" y="6063382"/>
            <a:ext cx="7960988" cy="695737"/>
            <a:chOff x="116558" y="5899937"/>
            <a:chExt cx="9210324" cy="868122"/>
          </a:xfrm>
        </p:grpSpPr>
        <p:pic>
          <p:nvPicPr>
            <p:cNvPr id="22" name="Picture 6" descr="Moodle-Unina">
              <a:extLst>
                <a:ext uri="{FF2B5EF4-FFF2-40B4-BE49-F238E27FC236}">
                  <a16:creationId xmlns:a16="http://schemas.microsoft.com/office/drawing/2014/main" id="{17A22070-DA25-3990-68EA-D915DD960E7A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58" y="5899937"/>
              <a:ext cx="2591011" cy="86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University of Zagreb, Croatia | Study.eu">
              <a:extLst>
                <a:ext uri="{FF2B5EF4-FFF2-40B4-BE49-F238E27FC236}">
                  <a16:creationId xmlns:a16="http://schemas.microsoft.com/office/drawing/2014/main" id="{D2B703EF-8243-B98D-4191-7649AB4FCEC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023" y="5899937"/>
              <a:ext cx="2159859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0" descr="TUHH – HAMBURG UNIVERSITY OF TECHNOLOGY ...">
              <a:extLst>
                <a:ext uri="{FF2B5EF4-FFF2-40B4-BE49-F238E27FC236}">
                  <a16:creationId xmlns:a16="http://schemas.microsoft.com/office/drawing/2014/main" id="{9B3AA7F4-7432-0990-F573-11DC07695DB7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135" y="5975908"/>
              <a:ext cx="1947870" cy="624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UDC Logo, symbol, meaning, history, PNG, brand">
              <a:extLst>
                <a:ext uri="{FF2B5EF4-FFF2-40B4-BE49-F238E27FC236}">
                  <a16:creationId xmlns:a16="http://schemas.microsoft.com/office/drawing/2014/main" id="{F3F92656-37FC-E085-3543-18610B809B01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711" y="5899937"/>
              <a:ext cx="1450057" cy="815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4" descr="Dipartimento di Ingegneria Industriale - DII - UniversitÃ degli Studi di  Napoli Federico II">
            <a:extLst>
              <a:ext uri="{FF2B5EF4-FFF2-40B4-BE49-F238E27FC236}">
                <a16:creationId xmlns:a16="http://schemas.microsoft.com/office/drawing/2014/main" id="{7998B0F0-405E-0474-2A66-951600148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161" y="6105114"/>
            <a:ext cx="2098142" cy="6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477F6-B93D-F937-754E-0496FB209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520" y="1059658"/>
            <a:ext cx="10725912" cy="46723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Simulation–Reality Gap Reduction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Involving current shear modelling sensor noise injection and Domain randomization techniques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Hardware-in-the-Loop Validation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Involving Real-time execution on embedded hardware, Interface with real autopilot systems, and Latency robustness testing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Environmental Constraints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Involving moving obstacle avoidance, Multi-vessel interaction, COLREG-compliant behavior generation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6-DOF Extension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Involving roll–yaw coupling at low speeds and Bank and shallow water effects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Energy-Aware Docking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Involving optimization of thrust usage, Minimization of fuel or battery consumption, and Electrified propulsion integration </a:t>
            </a:r>
          </a:p>
        </p:txBody>
      </p:sp>
    </p:spTree>
    <p:extLst>
      <p:ext uri="{BB962C8B-B14F-4D97-AF65-F5344CB8AC3E}">
        <p14:creationId xmlns:p14="http://schemas.microsoft.com/office/powerpoint/2010/main" val="334341467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8064</TotalTime>
  <Words>1671</Words>
  <Application>Microsoft Office PowerPoint</Application>
  <PresentationFormat>Widescreen</PresentationFormat>
  <Paragraphs>268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Algerian</vt:lpstr>
      <vt:lpstr>Aptos</vt:lpstr>
      <vt:lpstr>Arial</vt:lpstr>
      <vt:lpstr>Bierstadt</vt:lpstr>
      <vt:lpstr>Book Antiqua</vt:lpstr>
      <vt:lpstr>Cambria Math</vt:lpstr>
      <vt:lpstr>Elephant</vt:lpstr>
      <vt:lpstr>Times New Roman</vt:lpstr>
      <vt:lpstr>Wingdings</vt:lpstr>
      <vt:lpstr>GestaltVTI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WAKPAL</dc:creator>
  <cp:lastModifiedBy>Lemuel Hornsby-Odoi</cp:lastModifiedBy>
  <cp:revision>584</cp:revision>
  <dcterms:created xsi:type="dcterms:W3CDTF">2025-12-08T00:38:05Z</dcterms:created>
  <dcterms:modified xsi:type="dcterms:W3CDTF">2026-04-05T19:05:15Z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2025-12-08T00:39:08Z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32662821-5640-4389-90c4-2d9a7d433e0a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